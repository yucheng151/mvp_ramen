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G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146304"/>
            <a:ext cx="7680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74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0305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Accent b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69264"/>
            <a:ext cx="6095848" cy="50292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Accent oran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848" y="969264"/>
            <a:ext cx="3657509" cy="50292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Accent gre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53356" y="969264"/>
            <a:ext cx="2438339" cy="50292"/>
          </a:xfrm>
          <a:prstGeom prst="rect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1463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拉麵機通訊架構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1208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D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通訊格式與連接關係圖  ·  Communication Format &amp; Connection Architecture</a:t>
            </a:r>
            <a:endParaRPr lang="en-US" sz="12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01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</a:t>
            </a: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 / Modbus TCP    </a:t>
            </a:r>
            <a:r>
              <a:rPr lang="en-US" sz="95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</a:t>
            </a: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RS-485 / Modbus RTU    </a:t>
            </a:r>
            <a:r>
              <a:rPr lang="en-US" sz="950" b="1" dirty="0">
                <a:solidFill>
                  <a:srgbClr val="1E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</a:t>
            </a: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EtherNet/IP</a:t>
            </a:r>
            <a:endParaRPr lang="en-US" sz="950" dirty="0"/>
          </a:p>
        </p:txBody>
      </p:sp>
      <p:sp>
        <p:nvSpPr>
          <p:cNvPr id="9" name="sep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207008"/>
            <a:ext cx="0" cy="5440680"/>
          </a:xfrm>
          <a:prstGeom prst="line">
            <a:avLst/>
          </a:prstGeom>
          <a:noFill/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e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0" y="1207008"/>
            <a:ext cx="0" cy="5440680"/>
          </a:xfrm>
          <a:prstGeom prst="line">
            <a:avLst/>
          </a:prstGeom>
          <a:noFill/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hd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188720"/>
            <a:ext cx="82296" cy="256032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" y="117043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設備連接關係圖</a:t>
            </a:r>
            <a:endParaRPr lang="en-US" sz="1300" dirty="0"/>
          </a:p>
        </p:txBody>
      </p:sp>
      <p:sp>
        <p:nvSpPr>
          <p:cNvPr id="13" name="box HM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1463040"/>
            <a:ext cx="1874520" cy="731520"/>
          </a:xfrm>
          <a:prstGeom prst="rect">
            <a:avLst/>
          </a:prstGeom>
          <a:solidFill>
            <a:srgbClr val="FFFFFF"/>
          </a:solidFill>
          <a:ln w="20320">
            <a:solidFill>
              <a:srgbClr val="1F6FEB"/>
            </a:solidFill>
            <a:prstDash val="solid"/>
          </a:ln>
          <a:effectLst>
            <a:outerShdw blurRad="63500" dist="25400" dir="5400000" algn="bl" rotWithShape="0">
              <a:srgbClr val="1B3A5B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" y="1499616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PC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· 監控/命令/心跳/狀態</a:t>
            </a:r>
            <a:endParaRPr lang="en-US" sz="1200" dirty="0"/>
          </a:p>
        </p:txBody>
      </p:sp>
      <p:sp>
        <p:nvSpPr>
          <p:cNvPr id="15" name="box PL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2724912"/>
            <a:ext cx="1874520" cy="1133856"/>
          </a:xfrm>
          <a:prstGeom prst="rect">
            <a:avLst/>
          </a:prstGeom>
          <a:solidFill>
            <a:srgbClr val="10305B"/>
          </a:solidFill>
          <a:ln w="20320">
            <a:solidFill>
              <a:srgbClr val="10305B"/>
            </a:solidFill>
            <a:prstDash val="solid"/>
          </a:ln>
          <a:effectLst>
            <a:outerShdw blurRad="63500" dist="25400" dir="5400000" algn="bl" rotWithShape="0">
              <a:srgbClr val="1B3A5B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" y="2761488"/>
            <a:ext cx="17647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· 台達 AS228T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主控制器</a:t>
            </a:r>
            <a:endParaRPr lang="en-US" sz="12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FC7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上：TCP Server / EtherNet-IP</a:t>
            </a:r>
            <a:endParaRPr lang="en-US" sz="12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AFC7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下：RTU Master</a:t>
            </a:r>
            <a:endParaRPr lang="en-US" sz="1200" dirty="0"/>
          </a:p>
        </p:txBody>
      </p:sp>
      <p:sp>
        <p:nvSpPr>
          <p:cNvPr id="17" name="box V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4498848"/>
            <a:ext cx="1874520" cy="749808"/>
          </a:xfrm>
          <a:prstGeom prst="rect">
            <a:avLst/>
          </a:prstGeom>
          <a:solidFill>
            <a:srgbClr val="FFFFFF"/>
          </a:solidFill>
          <a:ln w="20320">
            <a:solidFill>
              <a:srgbClr val="E4790C"/>
            </a:solidFill>
            <a:prstDash val="solid"/>
          </a:ln>
          <a:effectLst>
            <a:outerShdw blurRad="63500" dist="25400" dir="5400000" algn="bl" rotWithShape="0">
              <a:srgbClr val="1B3A5B">
                <a:alpha val="1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912" y="4535424"/>
            <a:ext cx="17647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VECTOR-S100</a:t>
            </a:r>
            <a:endParaRPr lang="en-US" sz="115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輸送帶驅動器 · Modbus RTU Slave</a:t>
            </a:r>
            <a:endParaRPr lang="en-US" sz="1150" dirty="0"/>
          </a:p>
        </p:txBody>
      </p:sp>
      <p:sp>
        <p:nvSpPr>
          <p:cNvPr id="19" name="box IP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4912" y="2615184"/>
            <a:ext cx="1627632" cy="731520"/>
          </a:xfrm>
          <a:prstGeom prst="rect">
            <a:avLst/>
          </a:prstGeom>
          <a:solidFill>
            <a:srgbClr val="EEF3F9"/>
          </a:solidFill>
          <a:ln w="15875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776" y="265176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58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工業電腦 · 配料手臂</a:t>
            </a:r>
            <a:endParaRPr lang="en-US" sz="110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Modbus TCP · Future</a:t>
            </a:r>
            <a:endParaRPr lang="en-US" sz="1100" dirty="0"/>
          </a:p>
        </p:txBody>
      </p:sp>
      <p:sp>
        <p:nvSpPr>
          <p:cNvPr id="21" name="box NACH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4912" y="3474720"/>
            <a:ext cx="1627632" cy="731520"/>
          </a:xfrm>
          <a:prstGeom prst="rect">
            <a:avLst/>
          </a:prstGeom>
          <a:solidFill>
            <a:srgbClr val="EAF7F0"/>
          </a:solidFill>
          <a:ln w="20320">
            <a:solidFill>
              <a:srgbClr val="1E9E6A"/>
            </a:solidFill>
            <a:prstDash val="solid"/>
          </a:ln>
          <a:effectLst>
            <a:outerShdw blurRad="63500" dist="25400" dir="5400000" algn="bl" rotWithShape="0">
              <a:srgbClr val="1B3A5B">
                <a:alpha val="16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22" name="Text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776" y="3511296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NACHI 煮麵手臂</a:t>
            </a:r>
            <a:endParaRPr lang="en-US" sz="110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3C6B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手臂控制器</a:t>
            </a:r>
            <a:endParaRPr lang="en-US" sz="110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E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EtherNet/IP</a:t>
            </a:r>
            <a:endParaRPr lang="en-US" sz="1100" dirty="0"/>
          </a:p>
        </p:txBody>
      </p:sp>
      <p:sp>
        <p:nvSpPr>
          <p:cNvPr id="23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1308" y="2194560"/>
            <a:ext cx="0" cy="530352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221284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 /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Modbus TCP</a:t>
            </a:r>
            <a:endParaRPr lang="en-US" sz="800" dirty="0"/>
          </a:p>
        </p:txBody>
      </p:sp>
      <p:sp>
        <p:nvSpPr>
          <p:cNvPr id="25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1308" y="3858768"/>
            <a:ext cx="0" cy="640080"/>
          </a:xfrm>
          <a:prstGeom prst="line">
            <a:avLst/>
          </a:prstGeom>
          <a:noFill/>
          <a:ln w="31750">
            <a:solidFill>
              <a:srgbClr val="E479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4059936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RS-485 /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Modbus RTU</a:t>
            </a:r>
            <a:endParaRPr lang="en-US" sz="800" dirty="0"/>
          </a:p>
        </p:txBody>
      </p:sp>
      <p:sp>
        <p:nvSpPr>
          <p:cNvPr id="27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8568" y="2944368"/>
            <a:ext cx="466344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8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8568" y="3749040"/>
            <a:ext cx="466344" cy="0"/>
          </a:xfrm>
          <a:prstGeom prst="line">
            <a:avLst/>
          </a:prstGeom>
          <a:noFill/>
          <a:ln w="31750">
            <a:solidFill>
              <a:srgbClr val="1E9E6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legend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5449824"/>
            <a:ext cx="4069080" cy="93268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0624" y="5486400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▬ </a:t>
            </a:r>
            <a:r>
              <a:rPr lang="en-US" sz="900" b="1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 / Modbus TCP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▬ </a:t>
            </a:r>
            <a:r>
              <a:rPr lang="en-US" sz="900" b="1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RS-485 / Modbus RTU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▬ </a:t>
            </a:r>
            <a:r>
              <a:rPr lang="en-US" sz="900" b="1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EtherNet/IP（NACHI 煮麵手臂）</a:t>
            </a:r>
            <a:endParaRPr lang="en-US" sz="900" dirty="0"/>
          </a:p>
        </p:txBody>
      </p:sp>
      <p:sp>
        <p:nvSpPr>
          <p:cNvPr id="31" name="hd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188720"/>
            <a:ext cx="82296" cy="256032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117043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通訊格式說明</a:t>
            </a:r>
            <a:endParaRPr lang="en-US" sz="1300" dirty="0"/>
          </a:p>
        </p:txBody>
      </p:sp>
      <p:sp>
        <p:nvSpPr>
          <p:cNvPr id="33" name="com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81328"/>
            <a:ext cx="34290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81328"/>
            <a:ext cx="73152" cy="8229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1527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PC ↔ PLC</a:t>
            </a:r>
            <a:endParaRPr lang="en-US" sz="1050" dirty="0"/>
          </a:p>
        </p:txBody>
      </p:sp>
      <p:sp>
        <p:nvSpPr>
          <p:cNvPr id="36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9712" y="1554480"/>
            <a:ext cx="1188720" cy="21945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839712" y="1554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Modbus TCP</a:t>
            </a:r>
            <a:endParaRPr lang="en-US" sz="780" dirty="0"/>
          </a:p>
        </p:txBody>
      </p:sp>
      <p:sp>
        <p:nvSpPr>
          <p:cNvPr id="38" name="Text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180136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= Client ｜ PLC = Server</a:t>
            </a:r>
            <a:endParaRPr lang="en-US" sz="86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心跳、命令下達、PLC 狀態回傳</a:t>
            </a:r>
            <a:endParaRPr lang="en-US" sz="860" dirty="0"/>
          </a:p>
        </p:txBody>
      </p:sp>
      <p:sp>
        <p:nvSpPr>
          <p:cNvPr id="39" name="com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59152"/>
            <a:ext cx="3429000" cy="969264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59152"/>
            <a:ext cx="73152" cy="969264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↔ VECTOR-S100</a:t>
            </a:r>
            <a:endParaRPr lang="en-US" sz="1050" dirty="0"/>
          </a:p>
        </p:txBody>
      </p:sp>
      <p:sp>
        <p:nvSpPr>
          <p:cNvPr id="42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9712" y="2432304"/>
            <a:ext cx="1188720" cy="219456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6839712" y="24323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Modbus RTU</a:t>
            </a:r>
            <a:endParaRPr lang="en-US" sz="780" dirty="0"/>
          </a:p>
        </p:txBody>
      </p:sp>
      <p:sp>
        <p:nvSpPr>
          <p:cNvPr id="44" name="Text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2679192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= Master ｜ VECTOR-S100 = Slave</a:t>
            </a:r>
            <a:endParaRPr lang="en-US" sz="86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啟動/停止、速度寫入、狀態讀取、故障/保護讀取（RS-485）</a:t>
            </a:r>
            <a:endParaRPr lang="en-US" sz="860" dirty="0"/>
          </a:p>
        </p:txBody>
      </p:sp>
      <p:sp>
        <p:nvSpPr>
          <p:cNvPr id="45" name="com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383280"/>
            <a:ext cx="3429000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383280"/>
            <a:ext cx="73152" cy="841248"/>
          </a:xfrm>
          <a:prstGeom prst="rect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3429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NACHI ↔ PLC</a:t>
            </a:r>
            <a:endParaRPr lang="en-US" sz="1050" dirty="0"/>
          </a:p>
        </p:txBody>
      </p:sp>
      <p:sp>
        <p:nvSpPr>
          <p:cNvPr id="48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9712" y="3456432"/>
            <a:ext cx="1188720" cy="219456"/>
          </a:xfrm>
          <a:prstGeom prst="rect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6839712" y="3456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EtherNet/IP</a:t>
            </a:r>
            <a:endParaRPr lang="en-US" sz="780" dirty="0"/>
          </a:p>
        </p:txBody>
      </p:sp>
      <p:sp>
        <p:nvSpPr>
          <p:cNvPr id="50" name="Text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3703320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= 主控 ｜ NACHI = 手臂控制器</a:t>
            </a:r>
            <a:endParaRPr lang="en-US" sz="86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煮麵派工、動作指令、完成回報、狀態回傳</a:t>
            </a:r>
            <a:endParaRPr lang="en-US" sz="860" dirty="0"/>
          </a:p>
        </p:txBody>
      </p:sp>
      <p:sp>
        <p:nvSpPr>
          <p:cNvPr id="51" name="com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279392"/>
            <a:ext cx="3429000" cy="822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279392"/>
            <a:ext cx="73152" cy="8229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4325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 ↔ PLC</a:t>
            </a:r>
            <a:endParaRPr lang="en-US" sz="1050" dirty="0"/>
          </a:p>
        </p:txBody>
      </p:sp>
      <p:sp>
        <p:nvSpPr>
          <p:cNvPr id="54" name="ta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9712" y="4352544"/>
            <a:ext cx="1188720" cy="21945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6839712" y="43525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TCP · Future</a:t>
            </a:r>
            <a:endParaRPr lang="en-US" sz="780" dirty="0"/>
          </a:p>
        </p:txBody>
      </p:sp>
      <p:sp>
        <p:nvSpPr>
          <p:cNvPr id="56" name="Text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3752" y="459943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IPC = Client ｜ PLC = Server</a:t>
            </a:r>
            <a:endParaRPr lang="en-US" sz="86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5A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  </a:t>
            </a:r>
            <a:r>
              <a:rPr lang="en-US" sz="86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配料任務交握、動作完成回報（預留 / Future）</a:t>
            </a:r>
            <a:endParaRPr lang="en-US" sz="860" dirty="0"/>
          </a:p>
        </p:txBody>
      </p:sp>
      <p:sp>
        <p:nvSpPr>
          <p:cNvPr id="57" name="driver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5175504"/>
            <a:ext cx="3429000" cy="1408176"/>
          </a:xfrm>
          <a:prstGeom prst="rect">
            <a:avLst/>
          </a:prstGeom>
          <a:solidFill>
            <a:srgbClr val="FFF6EC"/>
          </a:solidFill>
          <a:ln w="12700">
            <a:solidFill>
              <a:srgbClr val="F0C4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55464" y="52395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週期讀取 VECTOR-S100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55464" y="552297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4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Coil 1~16  </a:t>
            </a:r>
            <a:r>
              <a:rPr lang="en-US" sz="84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運轉/故障/保護狀態</a:t>
            </a:r>
            <a:endParaRPr lang="en-US" sz="84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4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30001  </a:t>
            </a:r>
            <a:r>
              <a:rPr lang="en-US" sz="84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目前速度    </a:t>
            </a:r>
            <a:r>
              <a:rPr lang="en-US" sz="84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30002  </a:t>
            </a:r>
            <a:r>
              <a:rPr lang="en-US" sz="84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目前電流</a:t>
            </a:r>
            <a:endParaRPr lang="en-US" sz="84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40" b="1" dirty="0">
                <a:solidFill>
                  <a:srgbClr val="E479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40001~40003  </a:t>
            </a:r>
            <a:r>
              <a:rPr lang="en-US" sz="84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設定值確認</a:t>
            </a:r>
            <a:endParaRPr lang="en-US" sz="84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40" i="1" dirty="0">
                <a:solidFill>
                  <a:srgbClr val="9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RTU 一次僅允許單一通訊任務，需以 RTU_Busy 機制避免讀寫衝突</a:t>
            </a:r>
            <a:endParaRPr lang="en-US" sz="840" dirty="0"/>
          </a:p>
        </p:txBody>
      </p:sp>
      <p:sp>
        <p:nvSpPr>
          <p:cNvPr id="60" name="hd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1188720"/>
            <a:ext cx="82296" cy="256032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22792" y="117043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D 區通訊規劃</a:t>
            </a:r>
            <a:endParaRPr lang="en-US" sz="13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1499616"/>
          <a:ext cx="3429000" cy="1901952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方向</a:t>
                      </a:r>
                      <a:endParaRPr lang="en-US" sz="8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 區位址</a:t>
                      </a:r>
                      <a:endParaRPr lang="en-US" sz="8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84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1F6F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HMI → PLC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D1000~D1099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命令/參數/心跳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1F6F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PLC → HMI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D1100~D1199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狀態/回覆/心跳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8A96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PLC → IPC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D1200~D1299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派工/任務通知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8A96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IPC → PLC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D1300~D1399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完成回報/狀態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0E6B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PLC → NACHI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D3100~D3164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煮麵派工/動作指令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b="1" dirty="0">
                          <a:solidFill>
                            <a:srgbClr val="0E6B4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NACHI → PLC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D3000~D3064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0" dirty="0">
                          <a:solidFill>
                            <a:srgbClr val="1E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完成回報/狀態</a:t>
                      </a:r>
                      <a:endParaRPr lang="en-US" sz="81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" name="hdr ti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3511296"/>
            <a:ext cx="82296" cy="256032"/>
          </a:xfrm>
          <a:prstGeom prst="rect">
            <a:avLst/>
          </a:prstGeom>
          <a:solidFill>
            <a:srgbClr val="E4790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1"/>
          <p:cNvSpPr/>
          <p:nvPr/>
        </p:nvSpPr>
        <p:spPr>
          <a:xfrm>
            <a:off x="8622792" y="3493008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↔ PLC 交握內容</a:t>
            </a:r>
            <a:endParaRPr lang="en-US" sz="1300" dirty="0"/>
          </a:p>
        </p:txBody>
      </p:sp>
      <p:sp>
        <p:nvSpPr>
          <p:cNvPr id="65" name="h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3803904"/>
            <a:ext cx="3429000" cy="117043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3"/>
          <p:cNvSpPr/>
          <p:nvPr/>
        </p:nvSpPr>
        <p:spPr>
          <a:xfrm>
            <a:off x="8604504" y="38496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Heartbeat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8604504" y="40873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→ HMI  </a:t>
            </a:r>
            <a:r>
              <a:rPr lang="en-US" sz="83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D1100 = PLCtoHMI_HB_Index</a:t>
            </a:r>
            <a:endParaRPr lang="en-US" sz="8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→ PLC  </a:t>
            </a:r>
            <a:r>
              <a:rPr lang="en-US" sz="83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D1005 = HMItoPLC_HB_ReturnIndex</a:t>
            </a:r>
            <a:endParaRPr lang="en-US" sz="8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→ HMI  </a:t>
            </a:r>
            <a:r>
              <a:rPr lang="en-US" sz="83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D1105 = HMI_CommStatus</a:t>
            </a:r>
            <a:endParaRPr lang="en-US" sz="830" dirty="0"/>
          </a:p>
        </p:txBody>
      </p:sp>
      <p:sp>
        <p:nvSpPr>
          <p:cNvPr id="68" name="h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5029200"/>
            <a:ext cx="3429000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6"/>
          <p:cNvSpPr/>
          <p:nvPr/>
        </p:nvSpPr>
        <p:spPr>
          <a:xfrm>
            <a:off x="8604504" y="5074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3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Command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8604504" y="531266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HMI → PLC  </a:t>
            </a:r>
            <a:r>
              <a:rPr lang="en-US" sz="83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D1000 ~ D1003（命令/參數）</a:t>
            </a:r>
            <a:endParaRPr lang="en-US" sz="8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1F6F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→ HMI  </a:t>
            </a:r>
            <a:r>
              <a:rPr lang="en-US" sz="83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D1102 ~ D1106（回覆/狀態）</a:t>
            </a:r>
            <a:endParaRPr lang="en-US" sz="830" dirty="0"/>
          </a:p>
        </p:txBody>
      </p:sp>
      <p:sp>
        <p:nvSpPr>
          <p:cNvPr id="71" name="nachi no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8200" y="5998464"/>
            <a:ext cx="3429000" cy="585216"/>
          </a:xfrm>
          <a:prstGeom prst="rect">
            <a:avLst/>
          </a:prstGeom>
          <a:solidFill>
            <a:srgbClr val="EAF7F0"/>
          </a:solidFill>
          <a:ln w="12700">
            <a:solidFill>
              <a:srgbClr val="A7D8C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69"/>
          <p:cNvSpPr/>
          <p:nvPr/>
        </p:nvSpPr>
        <p:spPr>
          <a:xfrm>
            <a:off x="8604504" y="603504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10" b="1" dirty="0">
                <a:solidFill>
                  <a:srgbClr val="0E6B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NACHI 交握   </a:t>
            </a:r>
            <a:r>
              <a:rPr lang="en-US" sz="810" dirty="0">
                <a:solidFill>
                  <a:srgbClr val="1E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PLC → NACHI D3100~ 派工／動作　NACHI → PLC D3000~ 完成回報</a:t>
            </a:r>
            <a:endParaRPr lang="en-US" sz="810" dirty="0"/>
          </a:p>
        </p:txBody>
      </p:sp>
      <p:sp>
        <p:nvSpPr>
          <p:cNvPr id="73" name="Text 70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6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 拉麵機 · 通訊系統架構  |  Delta AS228T · VECTOR-S100 · NACHI </a:t>
            </a:r>
            <a:r>
              <a:rPr lang="en-US" sz="750" dirty="0" err="1">
                <a:solidFill>
                  <a:srgbClr val="8A96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煮手臂</a:t>
            </a:r>
            <a:r>
              <a:rPr lang="en-US" sz="750" dirty="0">
                <a:solidFill>
                  <a:srgbClr val="8A96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Modbus TCP / RTU / EtherNet-IP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376</Words>
  <Application>Microsoft Office PowerPoint</Application>
  <PresentationFormat>寬螢幕</PresentationFormat>
  <Paragraphs>80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</vt:lpstr>
      <vt:lpstr>Arial</vt:lpstr>
      <vt:lpstr>Calibri</vt:lpstr>
      <vt:lpstr>Office Theme</vt:lpstr>
      <vt:lpstr>MVP 拉麵機通訊架構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祐丞 沈</dc:creator>
  <cp:lastModifiedBy>祐丞 沈</cp:lastModifiedBy>
  <cp:revision>1</cp:revision>
  <dcterms:created xsi:type="dcterms:W3CDTF">2026-07-16T01:06:31Z</dcterms:created>
  <dcterms:modified xsi:type="dcterms:W3CDTF">2026-07-16T01:20:21Z</dcterms:modified>
</cp:coreProperties>
</file>